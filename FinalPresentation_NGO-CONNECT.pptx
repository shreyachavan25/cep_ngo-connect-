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ptos Bold" charset="1" panose="020B0004020202020204"/>
      <p:regular r:id="rId16"/>
    </p:embeddedFont>
    <p:embeddedFont>
      <p:font typeface="League Spartan" charset="1" panose="00000800000000000000"/>
      <p:regular r:id="rId17"/>
    </p:embeddedFont>
    <p:embeddedFont>
      <p:font typeface="Aptos" charset="1" panose="020B0004020202020204"/>
      <p:regular r:id="rId18"/>
    </p:embeddedFont>
    <p:embeddedFont>
      <p:font typeface="Aptos Italics" charset="1" panose="020B000402020209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28575"/>
            <a:ext cx="18288000" cy="10315575"/>
          </a:xfrm>
          <a:custGeom>
            <a:avLst/>
            <a:gdLst/>
            <a:ahLst/>
            <a:cxnLst/>
            <a:rect r="r" b="b" t="t" l="l"/>
            <a:pathLst>
              <a:path h="10315575" w="18288000">
                <a:moveTo>
                  <a:pt x="0" y="0"/>
                </a:moveTo>
                <a:lnTo>
                  <a:pt x="18288000" y="0"/>
                </a:lnTo>
                <a:lnTo>
                  <a:pt x="18288000" y="10315575"/>
                </a:lnTo>
                <a:lnTo>
                  <a:pt x="0" y="1031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47750" y="990600"/>
            <a:ext cx="4953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7B85C"/>
                </a:solidFill>
                <a:latin typeface="Aptos Bold"/>
                <a:ea typeface="Aptos Bold"/>
                <a:cs typeface="Aptos Bold"/>
                <a:sym typeface="Aptos Bold"/>
              </a:rPr>
              <a:t>STUDENT PROJECT ·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2714625"/>
            <a:ext cx="8858250" cy="174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NGO</a:t>
            </a:r>
          </a:p>
          <a:p>
            <a:pPr algn="l">
              <a:lnSpc>
                <a:spcPts val="7488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Connect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743450"/>
            <a:ext cx="7334250" cy="40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5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Bridging Homeless Children, NGOs &amp; Communities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66800" y="6657975"/>
            <a:ext cx="1047750" cy="85725"/>
          </a:xfrm>
          <a:custGeom>
            <a:avLst/>
            <a:gdLst/>
            <a:ahLst/>
            <a:cxnLst/>
            <a:rect r="r" b="b" t="t" l="l"/>
            <a:pathLst>
              <a:path h="85725" w="1047750">
                <a:moveTo>
                  <a:pt x="0" y="0"/>
                </a:moveTo>
                <a:lnTo>
                  <a:pt x="1047750" y="0"/>
                </a:lnTo>
                <a:lnTo>
                  <a:pt x="1047750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66800" y="7143750"/>
            <a:ext cx="8572500" cy="6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Anushri Shinde · Shravani Asawale · Shreya Chavan</a:t>
            </a:r>
          </a:p>
          <a:p>
            <a:pPr algn="l">
              <a:lnSpc>
                <a:spcPts val="2501"/>
              </a:lnSpc>
            </a:pPr>
            <a:r>
              <a:rPr lang="en-US" sz="17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Diya Telnade · Pradnya Desai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8553450"/>
            <a:ext cx="6667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102">
                <a:solidFill>
                  <a:srgbClr val="C6D7D3"/>
                </a:solidFill>
                <a:latin typeface="Aptos Bold"/>
                <a:ea typeface="Aptos Bold"/>
                <a:cs typeface="Aptos Bold"/>
                <a:sym typeface="Aptos Bold"/>
              </a:rPr>
              <a:t>COLLEGE NAME · ACADEMIC YEAR 2025–26</a:t>
            </a:r>
          </a:p>
        </p:txBody>
      </p:sp>
      <p:sp>
        <p:nvSpPr>
          <p:cNvPr name="AutoShape 11" id="11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52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B9CFCA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64000" y="9715500"/>
            <a:ext cx="6667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1143000"/>
            <a:ext cx="6572250" cy="7239000"/>
            <a:chOff x="0" y="0"/>
            <a:chExt cx="8763000" cy="96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63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9652000"/>
                  </a:lnTo>
                  <a:lnTo>
                    <a:pt x="0" y="965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" r="0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6750" y="1123950"/>
            <a:ext cx="885825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missing link is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visible—and fixable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34375" y="3362325"/>
            <a:ext cx="6191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9250" y="3317081"/>
            <a:ext cx="7143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Children need safe shelter and quality education.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4375" y="4648200"/>
            <a:ext cx="6191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9250" y="4602956"/>
            <a:ext cx="7143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NGOs need sustainable, recurring support.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34375" y="5934075"/>
            <a:ext cx="6191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5888831"/>
            <a:ext cx="7143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Communities need clear and trusted channels.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34375" y="7219950"/>
            <a:ext cx="6191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39250" y="7174706"/>
            <a:ext cx="7143750" cy="3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All three need a transparent bridge.</a:t>
            </a:r>
          </a:p>
        </p:txBody>
      </p:sp>
      <p:sp>
        <p:nvSpPr>
          <p:cNvPr name="AutoShape 13" id="13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C8D3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587176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77041" y="9715500"/>
            <a:ext cx="253709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028700"/>
            <a:ext cx="895350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Four objectives.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trusted pathway.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48928" y="3829050"/>
            <a:ext cx="7531894" cy="2080022"/>
          </a:xfrm>
          <a:custGeom>
            <a:avLst/>
            <a:gdLst/>
            <a:ahLst/>
            <a:cxnLst/>
            <a:rect r="r" b="b" t="t" l="l"/>
            <a:pathLst>
              <a:path h="2080022" w="7531894">
                <a:moveTo>
                  <a:pt x="0" y="0"/>
                </a:moveTo>
                <a:lnTo>
                  <a:pt x="7531894" y="0"/>
                </a:lnTo>
                <a:lnTo>
                  <a:pt x="7531894" y="2080022"/>
                </a:lnTo>
                <a:lnTo>
                  <a:pt x="0" y="208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76350" y="4026694"/>
            <a:ext cx="857250" cy="66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3625" y="4124325"/>
            <a:ext cx="51435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ACCESS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3625" y="4633912"/>
            <a:ext cx="5429250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Support admission into NGOs for shelter and education.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0428" y="3829050"/>
            <a:ext cx="7531894" cy="2080022"/>
          </a:xfrm>
          <a:custGeom>
            <a:avLst/>
            <a:gdLst/>
            <a:ahLst/>
            <a:cxnLst/>
            <a:rect r="r" b="b" t="t" l="l"/>
            <a:pathLst>
              <a:path h="2080022" w="7531894">
                <a:moveTo>
                  <a:pt x="0" y="0"/>
                </a:moveTo>
                <a:lnTo>
                  <a:pt x="7531894" y="0"/>
                </a:lnTo>
                <a:lnTo>
                  <a:pt x="7531894" y="2080022"/>
                </a:lnTo>
                <a:lnTo>
                  <a:pt x="0" y="208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467850" y="4026694"/>
            <a:ext cx="857250" cy="66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5125" y="4124325"/>
            <a:ext cx="51435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MICRO-FUNDING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5125" y="4633912"/>
            <a:ext cx="5429250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Propose a simple ₹1-per-household recurring model.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48928" y="6400800"/>
            <a:ext cx="7531894" cy="2080022"/>
          </a:xfrm>
          <a:custGeom>
            <a:avLst/>
            <a:gdLst/>
            <a:ahLst/>
            <a:cxnLst/>
            <a:rect r="r" b="b" t="t" l="l"/>
            <a:pathLst>
              <a:path h="2080022" w="7531894">
                <a:moveTo>
                  <a:pt x="0" y="0"/>
                </a:moveTo>
                <a:lnTo>
                  <a:pt x="7531894" y="0"/>
                </a:lnTo>
                <a:lnTo>
                  <a:pt x="7531894" y="2080022"/>
                </a:lnTo>
                <a:lnTo>
                  <a:pt x="0" y="208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6350" y="6598444"/>
            <a:ext cx="857250" cy="66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3625" y="6696075"/>
            <a:ext cx="51435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TRANSPARENCY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3625" y="7205662"/>
            <a:ext cx="5429250" cy="6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Create a clear digital bridge between donors and NGOs.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0428" y="6400800"/>
            <a:ext cx="7531894" cy="2080022"/>
          </a:xfrm>
          <a:custGeom>
            <a:avLst/>
            <a:gdLst/>
            <a:ahLst/>
            <a:cxnLst/>
            <a:rect r="r" b="b" t="t" l="l"/>
            <a:pathLst>
              <a:path h="2080022" w="7531894">
                <a:moveTo>
                  <a:pt x="0" y="0"/>
                </a:moveTo>
                <a:lnTo>
                  <a:pt x="7531894" y="0"/>
                </a:lnTo>
                <a:lnTo>
                  <a:pt x="7531894" y="2080022"/>
                </a:lnTo>
                <a:lnTo>
                  <a:pt x="0" y="2080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467850" y="6598444"/>
            <a:ext cx="857250" cy="66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5125" y="6696075"/>
            <a:ext cx="51435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TRUST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5125" y="7205662"/>
            <a:ext cx="5429250" cy="32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Share regular progress and impact updates.</a:t>
            </a:r>
          </a:p>
        </p:txBody>
      </p:sp>
      <p:sp>
        <p:nvSpPr>
          <p:cNvPr name="AutoShape 19" id="19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C8D3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587176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92126" y="9715500"/>
            <a:ext cx="238624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9250" y="0"/>
            <a:ext cx="9048750" cy="9563100"/>
            <a:chOff x="0" y="0"/>
            <a:chExt cx="12065000" cy="127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5000" cy="12750800"/>
            </a:xfrm>
            <a:custGeom>
              <a:avLst/>
              <a:gdLst/>
              <a:ahLst/>
              <a:cxnLst/>
              <a:rect r="r" b="b" t="t" l="l"/>
              <a:pathLst>
                <a:path h="127508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12750800"/>
                  </a:lnTo>
                  <a:lnTo>
                    <a:pt x="0" y="127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620000" y="-28575"/>
            <a:ext cx="4000500" cy="9591675"/>
          </a:xfrm>
          <a:custGeom>
            <a:avLst/>
            <a:gdLst/>
            <a:ahLst/>
            <a:cxnLst/>
            <a:rect r="r" b="b" t="t" l="l"/>
            <a:pathLst>
              <a:path h="9591675" w="4000500">
                <a:moveTo>
                  <a:pt x="0" y="0"/>
                </a:moveTo>
                <a:lnTo>
                  <a:pt x="4000500" y="0"/>
                </a:lnTo>
                <a:lnTo>
                  <a:pt x="4000500" y="9591675"/>
                </a:lnTo>
                <a:lnTo>
                  <a:pt x="0" y="9591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500" y="1171575"/>
            <a:ext cx="752475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Small participation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can widen the circle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3638550"/>
            <a:ext cx="70485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Urban homeless children need timely support, while NGOs and community networks often remain disconnected. A ₹1 contribution is intentionally easy to understand—and offers students and citizens a tangible way to participate.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7200900"/>
            <a:ext cx="66675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i="true">
                <a:solidFill>
                  <a:srgbClr val="E7B85C"/>
                </a:solidFill>
                <a:latin typeface="Aptos Italics"/>
                <a:ea typeface="Aptos Italics"/>
                <a:cs typeface="Aptos Italics"/>
                <a:sym typeface="Aptos Italics"/>
              </a:rPr>
              <a:t>The project prioritises verifiable action over distant intent.</a:t>
            </a:r>
          </a:p>
        </p:txBody>
      </p:sp>
      <p:sp>
        <p:nvSpPr>
          <p:cNvPr name="AutoShape 8" id="8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52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B9CFCA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91939" y="9715500"/>
            <a:ext cx="238811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81075"/>
            <a:ext cx="1000125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₹1 can be a habit,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 a headline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0125" y="2876550"/>
            <a:ext cx="59055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7B85C"/>
                </a:solidFill>
                <a:latin typeface="Aptos Bold"/>
                <a:ea typeface="Aptos Bold"/>
                <a:cs typeface="Aptos Bold"/>
                <a:sym typeface="Aptos Bold"/>
              </a:rPr>
              <a:t>ILLUSTRATIVE EXAMPLE · HYPOTHETICAL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0125" y="3657600"/>
            <a:ext cx="9906000" cy="118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42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1,000 households × ₹1</a:t>
            </a:r>
          </a:p>
          <a:p>
            <a:pPr algn="l">
              <a:lnSpc>
                <a:spcPts val="4704"/>
              </a:lnSpc>
            </a:pPr>
            <a:r>
              <a:rPr lang="en-US" sz="42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= ₹1,000 per contribution cycle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15050"/>
            <a:ext cx="895350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5E3DF"/>
                </a:solidFill>
                <a:latin typeface="Aptos"/>
                <a:ea typeface="Aptos"/>
                <a:cs typeface="Aptos"/>
                <a:sym typeface="Aptos"/>
              </a:rPr>
              <a:t>A proposed recurring micro-funding model—not actual funds collected. Frequency, consent, payment handling and reporting would be defined before launch.</a:t>
            </a:r>
          </a:p>
        </p:txBody>
      </p:sp>
      <p:sp>
        <p:nvSpPr>
          <p:cNvPr name="AutoShape 6" id="6"/>
          <p:cNvSpPr/>
          <p:nvPr/>
        </p:nvSpPr>
        <p:spPr>
          <a:xfrm rot="5209200">
            <a:off x="13905843" y="3910012"/>
            <a:ext cx="858574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209200">
            <a:off x="13905843" y="6148388"/>
            <a:ext cx="858574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096750" y="2095500"/>
            <a:ext cx="4476750" cy="1428750"/>
            <a:chOff x="0" y="0"/>
            <a:chExt cx="5969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69000">
                  <a:moveTo>
                    <a:pt x="48641" y="0"/>
                  </a:moveTo>
                  <a:lnTo>
                    <a:pt x="5920359" y="0"/>
                  </a:lnTo>
                  <a:cubicBezTo>
                    <a:pt x="5933313" y="0"/>
                    <a:pt x="5945632" y="5080"/>
                    <a:pt x="5954776" y="14224"/>
                  </a:cubicBezTo>
                  <a:cubicBezTo>
                    <a:pt x="5963920" y="23368"/>
                    <a:pt x="5969000" y="35687"/>
                    <a:pt x="5969000" y="48641"/>
                  </a:cubicBezTo>
                  <a:lnTo>
                    <a:pt x="5969000" y="1856359"/>
                  </a:lnTo>
                  <a:cubicBezTo>
                    <a:pt x="5969000" y="1869313"/>
                    <a:pt x="5963920" y="1881632"/>
                    <a:pt x="5954776" y="1890776"/>
                  </a:cubicBezTo>
                  <a:cubicBezTo>
                    <a:pt x="5945632" y="1899920"/>
                    <a:pt x="5933313" y="1905000"/>
                    <a:pt x="5920359" y="1905000"/>
                  </a:cubicBezTo>
                  <a:lnTo>
                    <a:pt x="48641" y="1905000"/>
                  </a:lnTo>
                  <a:cubicBezTo>
                    <a:pt x="35687" y="1905000"/>
                    <a:pt x="23368" y="1899920"/>
                    <a:pt x="14224" y="1890776"/>
                  </a:cubicBezTo>
                  <a:cubicBezTo>
                    <a:pt x="5080" y="1881632"/>
                    <a:pt x="0" y="1869313"/>
                    <a:pt x="0" y="1856359"/>
                  </a:cubicBezTo>
                  <a:lnTo>
                    <a:pt x="0" y="48641"/>
                  </a:lnTo>
                  <a:cubicBezTo>
                    <a:pt x="0" y="35687"/>
                    <a:pt x="5080" y="23368"/>
                    <a:pt x="14224" y="14224"/>
                  </a:cubicBezTo>
                  <a:cubicBezTo>
                    <a:pt x="23368" y="5080"/>
                    <a:pt x="35687" y="0"/>
                    <a:pt x="48641" y="0"/>
                  </a:cubicBezTo>
                  <a:close/>
                </a:path>
              </a:pathLst>
            </a:custGeom>
            <a:solidFill>
              <a:srgbClr val="C5943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96750" y="2102644"/>
            <a:ext cx="4476750" cy="1421606"/>
            <a:chOff x="0" y="0"/>
            <a:chExt cx="5969000" cy="1895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9000" cy="1895475"/>
            </a:xfrm>
            <a:custGeom>
              <a:avLst/>
              <a:gdLst/>
              <a:ahLst/>
              <a:cxnLst/>
              <a:rect r="r" b="b" t="t" l="l"/>
              <a:pathLst>
                <a:path h="1895475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895475"/>
                  </a:lnTo>
                  <a:lnTo>
                    <a:pt x="0" y="18954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9" r="0" b="-113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59690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HOUSEHOLDS</a:t>
              </a:r>
            </a:p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₹1 each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0" y="4333875"/>
            <a:ext cx="4476750" cy="1428750"/>
            <a:chOff x="0" y="0"/>
            <a:chExt cx="5969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6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69000">
                  <a:moveTo>
                    <a:pt x="48641" y="0"/>
                  </a:moveTo>
                  <a:lnTo>
                    <a:pt x="5920359" y="0"/>
                  </a:lnTo>
                  <a:cubicBezTo>
                    <a:pt x="5933313" y="0"/>
                    <a:pt x="5945632" y="5080"/>
                    <a:pt x="5954776" y="14224"/>
                  </a:cubicBezTo>
                  <a:cubicBezTo>
                    <a:pt x="5963920" y="23368"/>
                    <a:pt x="5969000" y="35687"/>
                    <a:pt x="5969000" y="48641"/>
                  </a:cubicBezTo>
                  <a:lnTo>
                    <a:pt x="5969000" y="1856359"/>
                  </a:lnTo>
                  <a:cubicBezTo>
                    <a:pt x="5969000" y="1869313"/>
                    <a:pt x="5963920" y="1881632"/>
                    <a:pt x="5954776" y="1890776"/>
                  </a:cubicBezTo>
                  <a:cubicBezTo>
                    <a:pt x="5945632" y="1899920"/>
                    <a:pt x="5933313" y="1905000"/>
                    <a:pt x="5920359" y="1905000"/>
                  </a:cubicBezTo>
                  <a:lnTo>
                    <a:pt x="48641" y="1905000"/>
                  </a:lnTo>
                  <a:cubicBezTo>
                    <a:pt x="35687" y="1905000"/>
                    <a:pt x="23368" y="1899920"/>
                    <a:pt x="14224" y="1890776"/>
                  </a:cubicBezTo>
                  <a:cubicBezTo>
                    <a:pt x="5080" y="1881632"/>
                    <a:pt x="0" y="1869313"/>
                    <a:pt x="0" y="1856359"/>
                  </a:cubicBezTo>
                  <a:lnTo>
                    <a:pt x="0" y="48641"/>
                  </a:lnTo>
                  <a:cubicBezTo>
                    <a:pt x="0" y="35687"/>
                    <a:pt x="5080" y="23368"/>
                    <a:pt x="14224" y="14224"/>
                  </a:cubicBezTo>
                  <a:cubicBezTo>
                    <a:pt x="23368" y="5080"/>
                    <a:pt x="35687" y="0"/>
                    <a:pt x="48641" y="0"/>
                  </a:cubicBezTo>
                  <a:close/>
                </a:path>
              </a:pathLst>
            </a:custGeom>
            <a:solidFill>
              <a:srgbClr val="EF6A5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96750" y="4341019"/>
            <a:ext cx="4476750" cy="1421606"/>
            <a:chOff x="0" y="0"/>
            <a:chExt cx="5969000" cy="1895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69000" cy="1895475"/>
            </a:xfrm>
            <a:custGeom>
              <a:avLst/>
              <a:gdLst/>
              <a:ahLst/>
              <a:cxnLst/>
              <a:rect r="r" b="b" t="t" l="l"/>
              <a:pathLst>
                <a:path h="1895475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895475"/>
                  </a:lnTo>
                  <a:lnTo>
                    <a:pt x="0" y="18954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9" r="0" b="-1135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9690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NGO CONNECT</a:t>
              </a:r>
            </a:p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Transparent channel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96750" y="6572250"/>
            <a:ext cx="4476750" cy="1428750"/>
            <a:chOff x="0" y="0"/>
            <a:chExt cx="5969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6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69000">
                  <a:moveTo>
                    <a:pt x="48641" y="0"/>
                  </a:moveTo>
                  <a:lnTo>
                    <a:pt x="5920359" y="0"/>
                  </a:lnTo>
                  <a:cubicBezTo>
                    <a:pt x="5933313" y="0"/>
                    <a:pt x="5945632" y="5080"/>
                    <a:pt x="5954776" y="14224"/>
                  </a:cubicBezTo>
                  <a:cubicBezTo>
                    <a:pt x="5963920" y="23368"/>
                    <a:pt x="5969000" y="35687"/>
                    <a:pt x="5969000" y="48641"/>
                  </a:cubicBezTo>
                  <a:lnTo>
                    <a:pt x="5969000" y="1856359"/>
                  </a:lnTo>
                  <a:cubicBezTo>
                    <a:pt x="5969000" y="1869313"/>
                    <a:pt x="5963920" y="1881632"/>
                    <a:pt x="5954776" y="1890776"/>
                  </a:cubicBezTo>
                  <a:cubicBezTo>
                    <a:pt x="5945632" y="1899920"/>
                    <a:pt x="5933313" y="1905000"/>
                    <a:pt x="5920359" y="1905000"/>
                  </a:cubicBezTo>
                  <a:lnTo>
                    <a:pt x="48641" y="1905000"/>
                  </a:lnTo>
                  <a:cubicBezTo>
                    <a:pt x="35687" y="1905000"/>
                    <a:pt x="23368" y="1899920"/>
                    <a:pt x="14224" y="1890776"/>
                  </a:cubicBezTo>
                  <a:cubicBezTo>
                    <a:pt x="5080" y="1881632"/>
                    <a:pt x="0" y="1869313"/>
                    <a:pt x="0" y="1856359"/>
                  </a:cubicBezTo>
                  <a:lnTo>
                    <a:pt x="0" y="48641"/>
                  </a:lnTo>
                  <a:cubicBezTo>
                    <a:pt x="0" y="35687"/>
                    <a:pt x="5080" y="23368"/>
                    <a:pt x="14224" y="14224"/>
                  </a:cubicBezTo>
                  <a:cubicBezTo>
                    <a:pt x="23368" y="5080"/>
                    <a:pt x="35687" y="0"/>
                    <a:pt x="48641" y="0"/>
                  </a:cubicBezTo>
                  <a:close/>
                </a:path>
              </a:pathLst>
            </a:custGeom>
            <a:solidFill>
              <a:srgbClr val="3F747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96750" y="6579394"/>
            <a:ext cx="4476750" cy="1421606"/>
            <a:chOff x="0" y="0"/>
            <a:chExt cx="5969000" cy="18954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69000" cy="1895475"/>
            </a:xfrm>
            <a:custGeom>
              <a:avLst/>
              <a:gdLst/>
              <a:ahLst/>
              <a:cxnLst/>
              <a:rect r="r" b="b" t="t" l="l"/>
              <a:pathLst>
                <a:path h="1895475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895475"/>
                  </a:lnTo>
                  <a:lnTo>
                    <a:pt x="0" y="189547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9" r="0" b="-113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59690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NGO SUPPORT</a:t>
              </a:r>
            </a:p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use &amp; reporting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52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B9CFCA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96241" y="9715500"/>
            <a:ext cx="234509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239000" cy="9563100"/>
            <a:chOff x="0" y="0"/>
            <a:chExt cx="9652000" cy="127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12750800"/>
            </a:xfrm>
            <a:custGeom>
              <a:avLst/>
              <a:gdLst/>
              <a:ahLst/>
              <a:cxnLst/>
              <a:rect r="r" b="b" t="t" l="l"/>
              <a:pathLst>
                <a:path h="127508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2750800"/>
                  </a:lnTo>
                  <a:lnTo>
                    <a:pt x="0" y="127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" r="0" b="-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96250" y="981075"/>
            <a:ext cx="857250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listening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reporting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15300" y="326707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39125" y="3298031"/>
            <a:ext cx="495300" cy="40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91625" y="3267075"/>
            <a:ext cx="685800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Visit NGOs; understand capacity and constraints.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115300" y="433387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39125" y="4364831"/>
            <a:ext cx="495300" cy="40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91625" y="4333875"/>
            <a:ext cx="685800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Identify children; coordinate safe onboarding.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115300" y="540067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39125" y="5431631"/>
            <a:ext cx="495300" cy="40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91625" y="5400675"/>
            <a:ext cx="685800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Connect shelter, food and education support.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115300" y="646747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39125" y="6498431"/>
            <a:ext cx="495300" cy="40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91625" y="6467475"/>
            <a:ext cx="685800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Roll out the proposed ₹1 recurring channel.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115300" y="7534275"/>
            <a:ext cx="647700" cy="676275"/>
          </a:xfrm>
          <a:custGeom>
            <a:avLst/>
            <a:gdLst/>
            <a:ahLst/>
            <a:cxnLst/>
            <a:rect r="r" b="b" t="t" l="l"/>
            <a:pathLst>
              <a:path h="676275" w="647700">
                <a:moveTo>
                  <a:pt x="0" y="0"/>
                </a:moveTo>
                <a:lnTo>
                  <a:pt x="647700" y="0"/>
                </a:lnTo>
                <a:lnTo>
                  <a:pt x="6477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39125" y="7565231"/>
            <a:ext cx="495300" cy="40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91625" y="7534275"/>
            <a:ext cx="685800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Publish progress and impact reports.</a:t>
            </a:r>
          </a:p>
        </p:txBody>
      </p:sp>
      <p:sp>
        <p:nvSpPr>
          <p:cNvPr name="AutoShape 20" id="20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C8D3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587176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88012" y="9715500"/>
            <a:ext cx="242738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028700"/>
            <a:ext cx="12382500" cy="55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success would enable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48928" y="3638550"/>
            <a:ext cx="3721894" cy="3746897"/>
          </a:xfrm>
          <a:custGeom>
            <a:avLst/>
            <a:gdLst/>
            <a:ahLst/>
            <a:cxnLst/>
            <a:rect r="r" b="b" t="t" l="l"/>
            <a:pathLst>
              <a:path h="3746897" w="3721894">
                <a:moveTo>
                  <a:pt x="0" y="0"/>
                </a:moveTo>
                <a:lnTo>
                  <a:pt x="3721894" y="0"/>
                </a:lnTo>
                <a:lnTo>
                  <a:pt x="3721894" y="3746897"/>
                </a:lnTo>
                <a:lnTo>
                  <a:pt x="0" y="374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200" y="3912394"/>
            <a:ext cx="1143000" cy="95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sz="51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5219700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ACCESS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5855494"/>
            <a:ext cx="323850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More children connected to shelter and education.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39928" y="3638550"/>
            <a:ext cx="3721894" cy="3746897"/>
          </a:xfrm>
          <a:custGeom>
            <a:avLst/>
            <a:gdLst/>
            <a:ahLst/>
            <a:cxnLst/>
            <a:rect r="r" b="b" t="t" l="l"/>
            <a:pathLst>
              <a:path h="3746897" w="3721894">
                <a:moveTo>
                  <a:pt x="0" y="0"/>
                </a:moveTo>
                <a:lnTo>
                  <a:pt x="3721894" y="0"/>
                </a:lnTo>
                <a:lnTo>
                  <a:pt x="3721894" y="3746897"/>
                </a:lnTo>
                <a:lnTo>
                  <a:pt x="0" y="3746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10200" y="3912394"/>
            <a:ext cx="1143000" cy="95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sz="5100" b="true">
                <a:solidFill>
                  <a:srgbClr val="E7B85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10200" y="5219700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CONTINUITY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10200" y="5855494"/>
            <a:ext cx="323850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A possible steady stream of micro-support for operations.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30928" y="3638550"/>
            <a:ext cx="3721894" cy="3746897"/>
          </a:xfrm>
          <a:custGeom>
            <a:avLst/>
            <a:gdLst/>
            <a:ahLst/>
            <a:cxnLst/>
            <a:rect r="r" b="b" t="t" l="l"/>
            <a:pathLst>
              <a:path h="3746897" w="3721894">
                <a:moveTo>
                  <a:pt x="0" y="0"/>
                </a:moveTo>
                <a:lnTo>
                  <a:pt x="3721894" y="0"/>
                </a:lnTo>
                <a:lnTo>
                  <a:pt x="3721894" y="3746897"/>
                </a:lnTo>
                <a:lnTo>
                  <a:pt x="0" y="3746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01200" y="3912394"/>
            <a:ext cx="1143000" cy="95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sz="51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1200" y="5219700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AWARENESS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1200" y="5855494"/>
            <a:ext cx="323850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Greater community involvement in child welfare.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521928" y="3638550"/>
            <a:ext cx="3721894" cy="3746897"/>
          </a:xfrm>
          <a:custGeom>
            <a:avLst/>
            <a:gdLst/>
            <a:ahLst/>
            <a:cxnLst/>
            <a:rect r="r" b="b" t="t" l="l"/>
            <a:pathLst>
              <a:path h="3746897" w="3721894">
                <a:moveTo>
                  <a:pt x="0" y="0"/>
                </a:moveTo>
                <a:lnTo>
                  <a:pt x="3721894" y="0"/>
                </a:lnTo>
                <a:lnTo>
                  <a:pt x="3721894" y="3746897"/>
                </a:lnTo>
                <a:lnTo>
                  <a:pt x="0" y="3746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92200" y="3912394"/>
            <a:ext cx="1143000" cy="95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8"/>
              </a:lnSpc>
            </a:pPr>
            <a:r>
              <a:rPr lang="en-US" sz="5100" b="true">
                <a:solidFill>
                  <a:srgbClr val="E7B85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92200" y="5219700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REPLICATION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2200" y="5855494"/>
            <a:ext cx="323850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A model other student groups and cities can adapt.</a:t>
            </a:r>
          </a:p>
        </p:txBody>
      </p:sp>
      <p:sp>
        <p:nvSpPr>
          <p:cNvPr name="AutoShape 19" id="19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C8D3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587176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88137" y="9715500"/>
            <a:ext cx="242613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981075"/>
            <a:ext cx="952500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Six weeks to launch.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Learning continues.</a:t>
            </a:r>
          </a:p>
        </p:txBody>
      </p:sp>
      <p:sp>
        <p:nvSpPr>
          <p:cNvPr name="AutoShape 3" id="3"/>
          <p:cNvSpPr/>
          <p:nvPr/>
        </p:nvSpPr>
        <p:spPr>
          <a:xfrm rot="17760">
            <a:off x="1771555" y="5400675"/>
            <a:ext cx="14744900" cy="0"/>
          </a:xfrm>
          <a:prstGeom prst="line">
            <a:avLst/>
          </a:prstGeom>
          <a:ln cap="rnd" w="57150">
            <a:solidFill>
              <a:srgbClr val="B8CB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6875" y="4829175"/>
            <a:ext cx="895350" cy="923925"/>
          </a:xfrm>
          <a:custGeom>
            <a:avLst/>
            <a:gdLst/>
            <a:ahLst/>
            <a:cxnLst/>
            <a:rect r="r" b="b" t="t" l="l"/>
            <a:pathLst>
              <a:path h="923925" w="895350">
                <a:moveTo>
                  <a:pt x="0" y="0"/>
                </a:moveTo>
                <a:lnTo>
                  <a:pt x="895350" y="0"/>
                </a:lnTo>
                <a:lnTo>
                  <a:pt x="89535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1175" y="4888706"/>
            <a:ext cx="666750" cy="40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6124575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WEEKS 1–2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6681788"/>
            <a:ext cx="3143250" cy="89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NGO visits</a:t>
            </a:r>
          </a:p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Needs mapping</a:t>
            </a:r>
          </a:p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Partnership development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953125" y="4829175"/>
            <a:ext cx="895350" cy="923925"/>
          </a:xfrm>
          <a:custGeom>
            <a:avLst/>
            <a:gdLst/>
            <a:ahLst/>
            <a:cxnLst/>
            <a:rect r="r" b="b" t="t" l="l"/>
            <a:pathLst>
              <a:path h="923925" w="895350">
                <a:moveTo>
                  <a:pt x="0" y="0"/>
                </a:moveTo>
                <a:lnTo>
                  <a:pt x="895350" y="0"/>
                </a:lnTo>
                <a:lnTo>
                  <a:pt x="89535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67425" y="4888706"/>
            <a:ext cx="666750" cy="40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29250" y="6124575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WEEKS 3–4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29250" y="6681788"/>
            <a:ext cx="3143250" cy="59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Child identification</a:t>
            </a:r>
          </a:p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Safe onboarding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39375" y="4829175"/>
            <a:ext cx="895350" cy="923925"/>
          </a:xfrm>
          <a:custGeom>
            <a:avLst/>
            <a:gdLst/>
            <a:ahLst/>
            <a:cxnLst/>
            <a:rect r="r" b="b" t="t" l="l"/>
            <a:pathLst>
              <a:path h="923925" w="895350">
                <a:moveTo>
                  <a:pt x="0" y="0"/>
                </a:moveTo>
                <a:lnTo>
                  <a:pt x="895350" y="0"/>
                </a:lnTo>
                <a:lnTo>
                  <a:pt x="89535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353675" y="4888706"/>
            <a:ext cx="666750" cy="40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0" y="6124575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WEEKS 5–6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500" y="6681788"/>
            <a:ext cx="3143250" cy="59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Launch proposed</a:t>
            </a:r>
          </a:p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₹1 channel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525625" y="4829175"/>
            <a:ext cx="895350" cy="923925"/>
          </a:xfrm>
          <a:custGeom>
            <a:avLst/>
            <a:gdLst/>
            <a:ahLst/>
            <a:cxnLst/>
            <a:rect r="r" b="b" t="t" l="l"/>
            <a:pathLst>
              <a:path h="923925" w="895350">
                <a:moveTo>
                  <a:pt x="0" y="0"/>
                </a:moveTo>
                <a:lnTo>
                  <a:pt x="895350" y="0"/>
                </a:lnTo>
                <a:lnTo>
                  <a:pt x="89535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639925" y="4888706"/>
            <a:ext cx="666750" cy="40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01750" y="6124575"/>
            <a:ext cx="3143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32">
                <a:solidFill>
                  <a:srgbClr val="EF6A5B"/>
                </a:solidFill>
                <a:latin typeface="Aptos Bold"/>
                <a:ea typeface="Aptos Bold"/>
                <a:cs typeface="Aptos Bold"/>
                <a:sym typeface="Aptos Bold"/>
              </a:rPr>
              <a:t>ONGOING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01750" y="6681788"/>
            <a:ext cx="3143250" cy="59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Awareness drives</a:t>
            </a:r>
          </a:p>
          <a:p>
            <a:pPr algn="ctr">
              <a:lnSpc>
                <a:spcPts val="2376"/>
              </a:lnSpc>
            </a:pPr>
            <a:r>
              <a:rPr lang="en-US" sz="1800">
                <a:solidFill>
                  <a:srgbClr val="17383D"/>
                </a:solidFill>
                <a:latin typeface="Aptos"/>
                <a:ea typeface="Aptos"/>
                <a:cs typeface="Aptos"/>
                <a:sym typeface="Aptos"/>
              </a:rPr>
              <a:t>Feedback · reporting</a:t>
            </a:r>
          </a:p>
        </p:txBody>
      </p:sp>
      <p:sp>
        <p:nvSpPr>
          <p:cNvPr name="AutoShape 20" id="20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C8D3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587176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88324" y="9715500"/>
            <a:ext cx="242426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0" y="0"/>
            <a:ext cx="9715500" cy="9563100"/>
            <a:chOff x="0" y="0"/>
            <a:chExt cx="12954000" cy="127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4000" cy="12750800"/>
            </a:xfrm>
            <a:custGeom>
              <a:avLst/>
              <a:gdLst/>
              <a:ahLst/>
              <a:cxnLst/>
              <a:rect r="r" b="b" t="t" l="l"/>
              <a:pathLst>
                <a:path h="127508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2750800"/>
                  </a:lnTo>
                  <a:lnTo>
                    <a:pt x="0" y="127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67500" y="-28575"/>
            <a:ext cx="4762500" cy="9591675"/>
          </a:xfrm>
          <a:custGeom>
            <a:avLst/>
            <a:gdLst/>
            <a:ahLst/>
            <a:cxnLst/>
            <a:rect r="r" b="b" t="t" l="l"/>
            <a:pathLst>
              <a:path h="9591675" w="4762500">
                <a:moveTo>
                  <a:pt x="0" y="0"/>
                </a:moveTo>
                <a:lnTo>
                  <a:pt x="4762500" y="0"/>
                </a:lnTo>
                <a:lnTo>
                  <a:pt x="4762500" y="9591675"/>
                </a:lnTo>
                <a:lnTo>
                  <a:pt x="0" y="9591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500" y="1171575"/>
            <a:ext cx="7143750" cy="11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practical bridge.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shared next step.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3448050"/>
            <a:ext cx="64770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NGO Connect proposes a transparent, sustainable link among homeless children, NGOs and communities—powered by accessible participation and accountable reporting.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6162675"/>
            <a:ext cx="28575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132">
                <a:solidFill>
                  <a:srgbClr val="E7B85C"/>
                </a:solidFill>
                <a:latin typeface="Aptos Bold"/>
                <a:ea typeface="Aptos Bold"/>
                <a:cs typeface="Aptos Bold"/>
                <a:sym typeface="Aptos Bold"/>
              </a:rPr>
              <a:t>FUTURE 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6629400"/>
            <a:ext cx="6477000" cy="149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Digital platform development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Expanded NGO relationships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Stronger impact tracking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Replication by student groups and cities</a:t>
            </a:r>
          </a:p>
        </p:txBody>
      </p:sp>
      <p:sp>
        <p:nvSpPr>
          <p:cNvPr name="AutoShape 9" id="9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52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B9CFCA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88012" y="9715500"/>
            <a:ext cx="242738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028700"/>
            <a:ext cx="11430000" cy="55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 &amp;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0125" y="1876425"/>
            <a:ext cx="10668000" cy="3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587176"/>
                </a:solidFill>
                <a:latin typeface="Aptos"/>
                <a:ea typeface="Aptos"/>
                <a:cs typeface="Aptos"/>
                <a:sym typeface="Aptos"/>
              </a:rPr>
              <a:t>Source names are listed for project research. No fabricated data or URLs are included.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0625" y="3426619"/>
            <a:ext cx="666750" cy="31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1250" y="3371850"/>
            <a:ext cx="581025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383D"/>
                </a:solidFill>
                <a:latin typeface="Aptos Bold"/>
                <a:ea typeface="Aptos Bold"/>
                <a:cs typeface="Aptos Bold"/>
                <a:sym typeface="Aptos Bold"/>
              </a:rPr>
              <a:t>Ministry of Women &amp; Child Development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8250" y="3409950"/>
            <a:ext cx="6858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87176"/>
                </a:solidFill>
                <a:latin typeface="Aptos"/>
                <a:ea typeface="Aptos"/>
                <a:cs typeface="Aptos"/>
                <a:sym typeface="Aptos"/>
              </a:rPr>
              <a:t>wcd.nic.in</a:t>
            </a:r>
          </a:p>
        </p:txBody>
      </p:sp>
      <p:sp>
        <p:nvSpPr>
          <p:cNvPr name="AutoShape 7" id="7"/>
          <p:cNvSpPr/>
          <p:nvPr/>
        </p:nvSpPr>
        <p:spPr>
          <a:xfrm rot="2100">
            <a:off x="947738" y="4081462"/>
            <a:ext cx="15725775" cy="0"/>
          </a:xfrm>
          <a:prstGeom prst="line">
            <a:avLst/>
          </a:prstGeom>
          <a:ln cap="rnd" w="9525">
            <a:solidFill>
              <a:srgbClr val="C8D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90625" y="4493419"/>
            <a:ext cx="666750" cy="31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4438650"/>
            <a:ext cx="581025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383D"/>
                </a:solidFill>
                <a:latin typeface="Aptos Bold"/>
                <a:ea typeface="Aptos Bold"/>
                <a:cs typeface="Aptos Bold"/>
                <a:sym typeface="Aptos Bold"/>
              </a:rPr>
              <a:t>UNICEF India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58250" y="4476750"/>
            <a:ext cx="6858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87176"/>
                </a:solidFill>
                <a:latin typeface="Aptos"/>
                <a:ea typeface="Aptos"/>
                <a:cs typeface="Aptos"/>
                <a:sym typeface="Aptos"/>
              </a:rPr>
              <a:t>Reports on street and homeless children</a:t>
            </a:r>
          </a:p>
        </p:txBody>
      </p:sp>
      <p:sp>
        <p:nvSpPr>
          <p:cNvPr name="AutoShape 11" id="11"/>
          <p:cNvSpPr/>
          <p:nvPr/>
        </p:nvSpPr>
        <p:spPr>
          <a:xfrm rot="2100">
            <a:off x="947738" y="5148262"/>
            <a:ext cx="15725775" cy="0"/>
          </a:xfrm>
          <a:prstGeom prst="line">
            <a:avLst/>
          </a:prstGeom>
          <a:ln cap="rnd" w="9525">
            <a:solidFill>
              <a:srgbClr val="C8D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190625" y="5560219"/>
            <a:ext cx="666750" cy="31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81250" y="5505450"/>
            <a:ext cx="581025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383D"/>
                </a:solidFill>
                <a:latin typeface="Aptos Bold"/>
                <a:ea typeface="Aptos Bold"/>
                <a:cs typeface="Aptos Bold"/>
                <a:sym typeface="Aptos Bold"/>
              </a:rPr>
              <a:t>Local NGO partner list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8250" y="5543550"/>
            <a:ext cx="6858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87176"/>
                </a:solidFill>
                <a:latin typeface="Aptos"/>
                <a:ea typeface="Aptos"/>
                <a:cs typeface="Aptos"/>
                <a:sym typeface="Aptos"/>
              </a:rPr>
              <a:t>To be developed by the student team</a:t>
            </a:r>
          </a:p>
        </p:txBody>
      </p:sp>
      <p:sp>
        <p:nvSpPr>
          <p:cNvPr name="AutoShape 15" id="15"/>
          <p:cNvSpPr/>
          <p:nvPr/>
        </p:nvSpPr>
        <p:spPr>
          <a:xfrm rot="2100">
            <a:off x="947738" y="6215062"/>
            <a:ext cx="15725775" cy="0"/>
          </a:xfrm>
          <a:prstGeom prst="line">
            <a:avLst/>
          </a:prstGeom>
          <a:ln cap="rnd" w="9525">
            <a:solidFill>
              <a:srgbClr val="C8D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90625" y="6627019"/>
            <a:ext cx="666750" cy="31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81250" y="6572250"/>
            <a:ext cx="581025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383D"/>
                </a:solidFill>
                <a:latin typeface="Aptos Bold"/>
                <a:ea typeface="Aptos Bold"/>
                <a:cs typeface="Aptos Bold"/>
                <a:sym typeface="Aptos Bold"/>
              </a:rPr>
              <a:t>Micro-donation research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8250" y="6610350"/>
            <a:ext cx="6858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87176"/>
                </a:solidFill>
                <a:latin typeface="Aptos"/>
                <a:ea typeface="Aptos"/>
                <a:cs typeface="Aptos"/>
                <a:sym typeface="Aptos"/>
              </a:rPr>
              <a:t>Articles on community giving models</a:t>
            </a:r>
          </a:p>
        </p:txBody>
      </p:sp>
      <p:sp>
        <p:nvSpPr>
          <p:cNvPr name="AutoShape 19" id="19"/>
          <p:cNvSpPr/>
          <p:nvPr/>
        </p:nvSpPr>
        <p:spPr>
          <a:xfrm rot="2100">
            <a:off x="947738" y="7281862"/>
            <a:ext cx="15725775" cy="0"/>
          </a:xfrm>
          <a:prstGeom prst="line">
            <a:avLst/>
          </a:prstGeom>
          <a:ln cap="rnd" w="9525">
            <a:solidFill>
              <a:srgbClr val="C8D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190625" y="7693819"/>
            <a:ext cx="666750" cy="31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EF6A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81250" y="7639050"/>
            <a:ext cx="581025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383D"/>
                </a:solidFill>
                <a:latin typeface="Aptos Bold"/>
                <a:ea typeface="Aptos Bold"/>
                <a:cs typeface="Aptos Bold"/>
                <a:sym typeface="Aptos Bold"/>
              </a:rPr>
              <a:t>Census &amp; NSSO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58250" y="7677150"/>
            <a:ext cx="6858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87176"/>
                </a:solidFill>
                <a:latin typeface="Aptos"/>
                <a:ea typeface="Aptos"/>
                <a:cs typeface="Aptos"/>
                <a:sym typeface="Aptos"/>
              </a:rPr>
              <a:t>Context on urban homelessness</a:t>
            </a:r>
          </a:p>
        </p:txBody>
      </p:sp>
      <p:sp>
        <p:nvSpPr>
          <p:cNvPr name="AutoShape 23" id="23"/>
          <p:cNvSpPr/>
          <p:nvPr/>
        </p:nvSpPr>
        <p:spPr>
          <a:xfrm rot="2100">
            <a:off x="947738" y="8348662"/>
            <a:ext cx="15725775" cy="0"/>
          </a:xfrm>
          <a:prstGeom prst="line">
            <a:avLst/>
          </a:prstGeom>
          <a:ln cap="rnd" w="9525">
            <a:solidFill>
              <a:srgbClr val="C8D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980">
            <a:off x="852488" y="9558338"/>
            <a:ext cx="16583025" cy="0"/>
          </a:xfrm>
          <a:prstGeom prst="line">
            <a:avLst/>
          </a:prstGeom>
          <a:ln cap="rnd" w="9525">
            <a:solidFill>
              <a:srgbClr val="C8D3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857250" y="9753600"/>
            <a:ext cx="590550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96">
                <a:solidFill>
                  <a:srgbClr val="587176"/>
                </a:solidFill>
                <a:latin typeface="Aptos Bold"/>
                <a:ea typeface="Aptos Bold"/>
                <a:cs typeface="Aptos Bold"/>
                <a:sym typeface="Aptos Bold"/>
              </a:rPr>
              <a:t>NGO CONNECT · STUDENT PROJECT ·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35325" y="9715500"/>
            <a:ext cx="195425" cy="22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1738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DAHYYEVGyH4</dc:identifier>
  <dcterms:modified xsi:type="dcterms:W3CDTF">2011-08-01T06:04:30Z</dcterms:modified>
  <cp:revision>1</cp:revision>
  <dc:title>NGO Connect_20261018_211740_0000.pptx</dc:title>
</cp:coreProperties>
</file>